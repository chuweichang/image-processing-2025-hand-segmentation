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874250" cy="67976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CJPVIsv2IhsINDEcsBIX/vMdN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24709F-4438-4896-AE6C-1EB07880476D}">
  <a:tblStyle styleId="{E524709F-4438-4896-AE6C-1EB07880476D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4278842" cy="3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93123" y="1"/>
            <a:ext cx="4278842" cy="3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408363" y="849313"/>
            <a:ext cx="3057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40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456612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40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40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f8adc5c1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600" cy="2293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3af8adc5c16_3_0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300" cy="2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af8adc5c16_3_0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f8adc5c16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af8adc5c16_3_14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300" cy="2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af8adc5c16_3_14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8adc5c1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600" cy="2293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af8adc5c16_0_40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300" cy="2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af8adc5c16_0_40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8adc5c1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600" cy="2293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af8adc5c16_0_1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300" cy="2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af8adc5c16_0_1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6311e2f5f_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600" cy="2293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a6311e2f5f_2_56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300" cy="2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a6311e2f5f_2_56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6311e2f5f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600" cy="2293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a6311e2f5f_2_5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300" cy="2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a6311e2f5f_2_5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6311e2f5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600" cy="2293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a6311e2f5f_2_18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300" cy="2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a6311e2f5f_2_18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f8adc5c1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600" cy="2293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af8adc5c16_0_16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300" cy="2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af8adc5c16_0_16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5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40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f8adc5c1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525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3af8adc5c16_0_22:notes"/>
          <p:cNvSpPr txBox="1">
            <a:spLocks noGrp="1"/>
          </p:cNvSpPr>
          <p:nvPr>
            <p:ph type="body" idx="1"/>
          </p:nvPr>
        </p:nvSpPr>
        <p:spPr>
          <a:xfrm>
            <a:off x="987425" y="3271381"/>
            <a:ext cx="7899300" cy="2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af8adc5c16_0_22:notes"/>
          <p:cNvSpPr txBox="1">
            <a:spLocks noGrp="1"/>
          </p:cNvSpPr>
          <p:nvPr>
            <p:ph type="sldNum" idx="12"/>
          </p:nvPr>
        </p:nvSpPr>
        <p:spPr>
          <a:xfrm>
            <a:off x="5593123" y="6456612"/>
            <a:ext cx="427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>
            <a:spLocks noGrp="1"/>
          </p:cNvSpPr>
          <p:nvPr>
            <p:ph type="ctrTitle"/>
          </p:nvPr>
        </p:nvSpPr>
        <p:spPr>
          <a:xfrm>
            <a:off x="1143000" y="1690787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subTitle" idx="1"/>
          </p:nvPr>
        </p:nvSpPr>
        <p:spPr>
          <a:xfrm>
            <a:off x="1143000" y="4325736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None/>
              <a:defRPr sz="843"/>
            </a:lvl2pPr>
            <a:lvl3pPr lvl="2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76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lvl="4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lvl="5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lvl="6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lvl="7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lvl="8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" name="Google Shape;21;p39"/>
          <p:cNvGrpSpPr/>
          <p:nvPr/>
        </p:nvGrpSpPr>
        <p:grpSpPr>
          <a:xfrm>
            <a:off x="247135" y="4143932"/>
            <a:ext cx="8707395" cy="65603"/>
            <a:chOff x="1550504" y="3390694"/>
            <a:chExt cx="6056244" cy="90902"/>
          </a:xfrm>
        </p:grpSpPr>
        <p:cxnSp>
          <p:nvCxnSpPr>
            <p:cNvPr id="22" name="Google Shape;22;p39"/>
            <p:cNvCxnSpPr/>
            <p:nvPr/>
          </p:nvCxnSpPr>
          <p:spPr>
            <a:xfrm>
              <a:off x="1550504" y="3481596"/>
              <a:ext cx="6056244" cy="0"/>
            </a:xfrm>
            <a:prstGeom prst="straightConnector1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" name="Google Shape;23;p39"/>
            <p:cNvCxnSpPr/>
            <p:nvPr/>
          </p:nvCxnSpPr>
          <p:spPr>
            <a:xfrm>
              <a:off x="1550504" y="3390694"/>
              <a:ext cx="6056244" cy="0"/>
            </a:xfrm>
            <a:prstGeom prst="straightConnector1">
              <a:avLst/>
            </a:prstGeom>
            <a:noFill/>
            <a:ln w="5715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24" name="Google Shape;24;p39" descr="ãæå¤§ logoãçåçæå°çµæ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22779" y="708250"/>
            <a:ext cx="1711693" cy="155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9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>
  <p:cSld name="標題及物件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0"/>
          <p:cNvSpPr txBox="1">
            <a:spLocks noGrp="1"/>
          </p:cNvSpPr>
          <p:nvPr>
            <p:ph type="body" idx="1"/>
          </p:nvPr>
        </p:nvSpPr>
        <p:spPr>
          <a:xfrm>
            <a:off x="628650" y="1268272"/>
            <a:ext cx="7886700" cy="494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0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40"/>
          <p:cNvCxnSpPr/>
          <p:nvPr/>
        </p:nvCxnSpPr>
        <p:spPr>
          <a:xfrm>
            <a:off x="0" y="802422"/>
            <a:ext cx="9141429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40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>
            <a:spLocks noGrp="1"/>
          </p:cNvSpPr>
          <p:nvPr>
            <p:ph type="title"/>
          </p:nvPr>
        </p:nvSpPr>
        <p:spPr>
          <a:xfrm>
            <a:off x="623888" y="1709745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31"/>
              <a:buFont typeface="Times New Roman"/>
              <a:buNone/>
              <a:defRPr sz="253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body" idx="1"/>
          </p:nvPr>
        </p:nvSpPr>
        <p:spPr>
          <a:xfrm>
            <a:off x="623888" y="4589470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888888"/>
              </a:buClr>
              <a:buSzPts val="844"/>
              <a:buNone/>
              <a:defRPr sz="843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888888"/>
              </a:buClr>
              <a:buSzPts val="760"/>
              <a:buNone/>
              <a:defRPr sz="76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888888"/>
              </a:buClr>
              <a:buSzPts val="675"/>
              <a:buNone/>
              <a:defRPr sz="675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888888"/>
              </a:buClr>
              <a:buSzPts val="675"/>
              <a:buNone/>
              <a:defRPr sz="675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888888"/>
              </a:buClr>
              <a:buSzPts val="675"/>
              <a:buNone/>
              <a:defRPr sz="675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888888"/>
              </a:buClr>
              <a:buSzPts val="675"/>
              <a:buNone/>
              <a:defRPr sz="675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888888"/>
              </a:buClr>
              <a:buSzPts val="675"/>
              <a:buNone/>
              <a:defRPr sz="675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888888"/>
              </a:buClr>
              <a:buSzPts val="675"/>
              <a:buNone/>
              <a:defRPr sz="67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2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4" name="Google Shape;44;p42"/>
          <p:cNvCxnSpPr/>
          <p:nvPr/>
        </p:nvCxnSpPr>
        <p:spPr>
          <a:xfrm>
            <a:off x="628650" y="1248507"/>
            <a:ext cx="78867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" name="Google Shape;45;p42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 b="1"/>
            </a:lvl1pPr>
            <a:lvl2pPr marL="914400" lvl="1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None/>
              <a:defRPr sz="843" b="1"/>
            </a:lvl2pPr>
            <a:lvl3pPr marL="1371600" lvl="2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760"/>
              <a:buNone/>
              <a:defRPr sz="760" b="1"/>
            </a:lvl3pPr>
            <a:lvl4pPr marL="1828800" lvl="3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4pPr>
            <a:lvl5pPr marL="2286000" lvl="4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5pPr>
            <a:lvl6pPr marL="2743200" lvl="5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6pPr>
            <a:lvl7pPr marL="3200400" lvl="6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7pPr>
            <a:lvl8pPr marL="3657600" lvl="7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8pPr>
            <a:lvl9pPr marL="4114800" lvl="8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9pPr>
          </a:lstStyle>
          <a:p>
            <a:endParaRPr/>
          </a:p>
        </p:txBody>
      </p:sp>
      <p:sp>
        <p:nvSpPr>
          <p:cNvPr id="49" name="Google Shape;49;p4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body" idx="3"/>
          </p:nvPr>
        </p:nvSpPr>
        <p:spPr>
          <a:xfrm>
            <a:off x="4629152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 b="1"/>
            </a:lvl1pPr>
            <a:lvl2pPr marL="914400" lvl="1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None/>
              <a:defRPr sz="843" b="1"/>
            </a:lvl2pPr>
            <a:lvl3pPr marL="1371600" lvl="2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760"/>
              <a:buNone/>
              <a:defRPr sz="760" b="1"/>
            </a:lvl3pPr>
            <a:lvl4pPr marL="1828800" lvl="3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4pPr>
            <a:lvl5pPr marL="2286000" lvl="4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5pPr>
            <a:lvl6pPr marL="2743200" lvl="5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6pPr>
            <a:lvl7pPr marL="3200400" lvl="6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7pPr>
            <a:lvl8pPr marL="3657600" lvl="7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8pPr>
            <a:lvl9pPr marL="4114800" lvl="8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body" idx="4"/>
          </p:nvPr>
        </p:nvSpPr>
        <p:spPr>
          <a:xfrm>
            <a:off x="4629152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3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4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5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5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imes New Roman"/>
              <a:buNone/>
              <a:defRPr sz="13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6"/>
          <p:cNvSpPr txBox="1">
            <a:spLocks noGrp="1"/>
          </p:cNvSpPr>
          <p:nvPr>
            <p:ph type="body" idx="1"/>
          </p:nvPr>
        </p:nvSpPr>
        <p:spPr>
          <a:xfrm>
            <a:off x="3887391" y="987432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1pPr>
            <a:lvl2pPr marL="914400" lvl="1" indent="-303593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181"/>
              <a:buChar char="•"/>
              <a:defRPr sz="1181"/>
            </a:lvl2pPr>
            <a:lvl3pPr marL="1371600" lvl="2" indent="-292925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013"/>
              <a:buChar char="•"/>
              <a:defRPr sz="1013"/>
            </a:lvl3pPr>
            <a:lvl4pPr marL="1828800" lvl="3" indent="-2821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4pPr>
            <a:lvl5pPr marL="2286000" lvl="4" indent="-2821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5pPr>
            <a:lvl6pPr marL="2743200" lvl="5" indent="-2821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6pPr>
            <a:lvl7pPr marL="3200400" lvl="6" indent="-2821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7pPr>
            <a:lvl8pPr marL="3657600" lvl="7" indent="-2821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8pPr>
            <a:lvl9pPr marL="4114800" lvl="8" indent="-2821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9pPr>
          </a:lstStyle>
          <a:p>
            <a:endParaRPr/>
          </a:p>
        </p:txBody>
      </p:sp>
      <p:sp>
        <p:nvSpPr>
          <p:cNvPr id="67" name="Google Shape;67;p4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1pPr>
            <a:lvl2pPr marL="914400" lvl="1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591"/>
              <a:buNone/>
              <a:defRPr sz="591"/>
            </a:lvl2pPr>
            <a:lvl3pPr marL="1371600" lvl="2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506"/>
              <a:buNone/>
              <a:defRPr sz="506"/>
            </a:lvl3pPr>
            <a:lvl4pPr marL="1828800" lvl="3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4pPr>
            <a:lvl5pPr marL="2286000" lvl="4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5pPr>
            <a:lvl6pPr marL="2743200" lvl="5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6pPr>
            <a:lvl7pPr marL="3200400" lvl="6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7pPr>
            <a:lvl8pPr marL="3657600" lvl="7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8pPr>
            <a:lvl9pPr marL="4114800" lvl="8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9pPr>
          </a:lstStyle>
          <a:p>
            <a:endParaRPr/>
          </a:p>
        </p:txBody>
      </p:sp>
      <p:sp>
        <p:nvSpPr>
          <p:cNvPr id="68" name="Google Shape;68;p46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6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imes New Roman"/>
              <a:buNone/>
              <a:defRPr sz="13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7"/>
          <p:cNvSpPr>
            <a:spLocks noGrp="1"/>
          </p:cNvSpPr>
          <p:nvPr>
            <p:ph type="pic" idx="2"/>
          </p:nvPr>
        </p:nvSpPr>
        <p:spPr>
          <a:xfrm>
            <a:off x="3887391" y="987432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47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1pPr>
            <a:lvl2pPr marL="914400" lvl="1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591"/>
              <a:buNone/>
              <a:defRPr sz="591"/>
            </a:lvl2pPr>
            <a:lvl3pPr marL="1371600" lvl="2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506"/>
              <a:buNone/>
              <a:defRPr sz="506"/>
            </a:lvl3pPr>
            <a:lvl4pPr marL="1828800" lvl="3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4pPr>
            <a:lvl5pPr marL="2286000" lvl="4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5pPr>
            <a:lvl6pPr marL="2743200" lvl="5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6pPr>
            <a:lvl7pPr marL="3200400" lvl="6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7pPr>
            <a:lvl8pPr marL="3657600" lvl="7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8pPr>
            <a:lvl9pPr marL="4114800" lvl="8" indent="-2286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9pPr>
          </a:lstStyle>
          <a:p>
            <a:endParaRPr/>
          </a:p>
        </p:txBody>
      </p:sp>
      <p:sp>
        <p:nvSpPr>
          <p:cNvPr id="75" name="Google Shape;75;p47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8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8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8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8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9"/>
          <p:cNvSpPr txBox="1">
            <a:spLocks noGrp="1"/>
          </p:cNvSpPr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9"/>
          <p:cNvSpPr txBox="1">
            <a:spLocks noGrp="1"/>
          </p:cNvSpPr>
          <p:nvPr>
            <p:ph type="body" idx="1"/>
          </p:nvPr>
        </p:nvSpPr>
        <p:spPr>
          <a:xfrm rot="5400000">
            <a:off x="623096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9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9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9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6"/>
              <a:buFont typeface="Times New Roman"/>
              <a:buNone/>
              <a:defRPr sz="1856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03593" algn="l" rtl="0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181"/>
              <a:buFont typeface="Arial"/>
              <a:buChar char="•"/>
              <a:defRPr sz="118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92925" algn="l" rtl="0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82194" algn="l" rtl="0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Char char="•"/>
              <a:defRPr sz="843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76860" algn="l" rtl="0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Char char="•"/>
              <a:defRPr sz="76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76860" algn="l" rtl="0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Char char="•"/>
              <a:defRPr sz="76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76860" algn="l" rtl="0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Char char="•"/>
              <a:defRPr sz="76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76860" algn="l" rtl="0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Char char="•"/>
              <a:defRPr sz="76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76859" algn="l" rtl="0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Char char="•"/>
              <a:defRPr sz="76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76859" algn="l" rtl="0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Char char="•"/>
              <a:defRPr sz="76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6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6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3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842" y="6347942"/>
            <a:ext cx="2958166" cy="51025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/>
        </p:nvSpPr>
        <p:spPr>
          <a:xfrm>
            <a:off x="0" y="2808743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影像處理期末專案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i="0" u="none" strike="noStrike" cap="none" dirty="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0" y="3454354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醫學影像分割</a:t>
            </a:r>
            <a:r>
              <a:rPr lang="en-US" sz="1800" i="0" u="none" strike="noStrike" cap="none" dirty="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前臂肌肉的</a:t>
            </a:r>
            <a:r>
              <a:rPr lang="en-US" sz="1800" dirty="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MRI </a:t>
            </a:r>
            <a:r>
              <a:rPr lang="en-US" sz="1800" dirty="0" err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影像分割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p1"/>
          <p:cNvGraphicFramePr/>
          <p:nvPr/>
        </p:nvGraphicFramePr>
        <p:xfrm>
          <a:off x="1874999" y="4637691"/>
          <a:ext cx="6720350" cy="1120531"/>
        </p:xfrm>
        <a:graphic>
          <a:graphicData uri="http://schemas.openxmlformats.org/drawingml/2006/table">
            <a:tbl>
              <a:tblPr firstRow="1" bandRow="1">
                <a:noFill/>
                <a:tableStyleId>{E524709F-4438-4896-AE6C-1EB07880476D}</a:tableStyleId>
              </a:tblPr>
              <a:tblGrid>
                <a:gridCol w="171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助教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 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林一     P76134888@gs.ncku.edu.tw</a:t>
                      </a:r>
                      <a:endParaRPr sz="2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n-US" sz="20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林心怡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P76131458@gs.ncku.edu.tw</a:t>
                      </a:r>
                      <a:endParaRPr sz="2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n-US" sz="20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王承吉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P76134032@gs.ncku.edu.tw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628650" y="1063450"/>
            <a:ext cx="8377800" cy="22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本作業需利用醫學影像處理技術，完成針對前臂的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MRI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影像進行肌肉組織的自動化分割。透過影像處理方法，將影像中的區域劃分為三種類別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：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CT（Carpal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tunnel，腕隧道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）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FT（Flexor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Tendons，肌腱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）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</a:pP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MN（Median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Nerve，正中神經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）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最後以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Dice </a:t>
            </a:r>
            <a:r>
              <a:rPr lang="en-US" sz="2000" dirty="0" err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Coefficient（重疊相似度指標</a:t>
            </a:r>
            <a:r>
              <a:rPr lang="en-US" sz="2000" dirty="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）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作為評估指標，量化分割效果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。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571" y="209200"/>
            <a:ext cx="9141429" cy="584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作業目標</a:t>
            </a:r>
            <a:endParaRPr sz="32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62415" y="6002350"/>
            <a:ext cx="4712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前臂肌肉影像分割示意圖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025" y="3581213"/>
            <a:ext cx="2293187" cy="2293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825" y="3581225"/>
            <a:ext cx="3185000" cy="229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4984875" y="6002350"/>
            <a:ext cx="2910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前臂肌肉組織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897575" y="3854200"/>
            <a:ext cx="644100" cy="13020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388725" y="4010650"/>
            <a:ext cx="554100" cy="11010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836625" y="5540475"/>
            <a:ext cx="803700" cy="13020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f8adc5c16_3_0"/>
          <p:cNvSpPr txBox="1">
            <a:spLocks noGrp="1"/>
          </p:cNvSpPr>
          <p:nvPr>
            <p:ph type="body" idx="1"/>
          </p:nvPr>
        </p:nvSpPr>
        <p:spPr>
          <a:xfrm>
            <a:off x="628650" y="1063450"/>
            <a:ext cx="8377800" cy="26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本作業共提供 10 組影像資料，檔名如下：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0.png ~ 9.png（共 10 組資料）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每組影像包含兩種 MRI 成像方式 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T1 影像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T2 影像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此外，每組影像皆提供一組 對應的 ground-truth mask 作為標註。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需利用 T1 與 T2 的資訊完成三類組織的 segmentation。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af8adc5c16_3_0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0" name="Google Shape;120;g3af8adc5c16_3_0"/>
          <p:cNvSpPr txBox="1"/>
          <p:nvPr/>
        </p:nvSpPr>
        <p:spPr>
          <a:xfrm>
            <a:off x="2571" y="209200"/>
            <a:ext cx="91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3200" b="1" i="0" u="none" strike="noStrike" cap="none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af8adc5c16_3_0"/>
          <p:cNvSpPr txBox="1"/>
          <p:nvPr/>
        </p:nvSpPr>
        <p:spPr>
          <a:xfrm>
            <a:off x="1748732" y="5894940"/>
            <a:ext cx="2208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0.png - T1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g3af8adc5c16_3_0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907" y="4100815"/>
            <a:ext cx="1756250" cy="17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af8adc5c16_3_0"/>
          <p:cNvSpPr txBox="1"/>
          <p:nvPr/>
        </p:nvSpPr>
        <p:spPr>
          <a:xfrm>
            <a:off x="5186668" y="5894940"/>
            <a:ext cx="2208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0.png - T2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g3af8adc5c16_3_0" title="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2851" y="4100824"/>
            <a:ext cx="1756250" cy="17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f8adc5c16_3_14"/>
          <p:cNvSpPr txBox="1">
            <a:spLocks noGrp="1"/>
          </p:cNvSpPr>
          <p:nvPr>
            <p:ph type="body" idx="1"/>
          </p:nvPr>
        </p:nvSpPr>
        <p:spPr>
          <a:xfrm>
            <a:off x="628650" y="1063450"/>
            <a:ext cx="8377800" cy="4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Allowed Techniques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傳統影像處理與基礎演算法方法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課程教學的方法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Prohibited Techniques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直接回傳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Ground Truth mask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作為預測結果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以任何形式將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Ground Truth mask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作為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`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predict_mask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`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的輸入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僅對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Ground Truth mask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進行形態學操作作為「預測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」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硬編碼（hard-code）Ground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Truth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結果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af8adc5c16_3_14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2" name="Google Shape;132;g3af8adc5c16_3_14"/>
          <p:cNvSpPr txBox="1"/>
          <p:nvPr/>
        </p:nvSpPr>
        <p:spPr>
          <a:xfrm>
            <a:off x="2571" y="209200"/>
            <a:ext cx="91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方法使用規範</a:t>
            </a:r>
            <a:endParaRPr sz="3200" b="1" i="0" u="none" strike="noStrike" cap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f8adc5c16_0_40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39" name="Google Shape;139;g3af8adc5c16_0_40"/>
          <p:cNvSpPr txBox="1"/>
          <p:nvPr/>
        </p:nvSpPr>
        <p:spPr>
          <a:xfrm>
            <a:off x="2571" y="209200"/>
            <a:ext cx="91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範例程式說明</a:t>
            </a:r>
            <a:endParaRPr sz="3200"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g3af8adc5c16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312" y="1379700"/>
            <a:ext cx="7721825" cy="4098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af8adc5c16_0_40"/>
          <p:cNvSpPr txBox="1"/>
          <p:nvPr/>
        </p:nvSpPr>
        <p:spPr>
          <a:xfrm>
            <a:off x="5638725" y="5634900"/>
            <a:ext cx="27954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範例程式於期末專案公告之附件中，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請參考 </a:t>
            </a:r>
            <a:r>
              <a:rPr lang="en-US" sz="1181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VS2025_Project/README</a:t>
            </a:r>
            <a:endParaRPr sz="1181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f8adc5c16_0_1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8" name="Google Shape;148;g3af8adc5c16_0_1"/>
          <p:cNvSpPr txBox="1"/>
          <p:nvPr/>
        </p:nvSpPr>
        <p:spPr>
          <a:xfrm>
            <a:off x="2571" y="209200"/>
            <a:ext cx="91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介面功能說明</a:t>
            </a:r>
            <a:endParaRPr sz="3200"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9" name="Google Shape;149;g3af8adc5c16_0_1"/>
          <p:cNvGrpSpPr/>
          <p:nvPr/>
        </p:nvGrpSpPr>
        <p:grpSpPr>
          <a:xfrm>
            <a:off x="712312" y="1379700"/>
            <a:ext cx="7721825" cy="4098599"/>
            <a:chOff x="712312" y="1379700"/>
            <a:chExt cx="7721825" cy="4098599"/>
          </a:xfrm>
        </p:grpSpPr>
        <p:pic>
          <p:nvPicPr>
            <p:cNvPr id="150" name="Google Shape;150;g3af8adc5c16_0_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2312" y="1379700"/>
              <a:ext cx="7721825" cy="4098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g3af8adc5c16_0_1"/>
            <p:cNvSpPr/>
            <p:nvPr/>
          </p:nvSpPr>
          <p:spPr>
            <a:xfrm>
              <a:off x="810625" y="5099675"/>
              <a:ext cx="498000" cy="282600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g3af8adc5c16_0_1"/>
            <p:cNvSpPr/>
            <p:nvPr/>
          </p:nvSpPr>
          <p:spPr>
            <a:xfrm>
              <a:off x="1653025" y="5099675"/>
              <a:ext cx="838500" cy="282600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g3af8adc5c16_0_1"/>
            <p:cNvSpPr/>
            <p:nvPr/>
          </p:nvSpPr>
          <p:spPr>
            <a:xfrm>
              <a:off x="2585425" y="5232000"/>
              <a:ext cx="1916100" cy="150300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g3af8adc5c16_0_1"/>
            <p:cNvSpPr/>
            <p:nvPr/>
          </p:nvSpPr>
          <p:spPr>
            <a:xfrm>
              <a:off x="4651500" y="5232000"/>
              <a:ext cx="435000" cy="150300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g3af8adc5c16_0_1"/>
            <p:cNvSpPr/>
            <p:nvPr/>
          </p:nvSpPr>
          <p:spPr>
            <a:xfrm>
              <a:off x="2585425" y="1594450"/>
              <a:ext cx="393300" cy="150300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6" name="Google Shape;156;g3af8adc5c16_0_1"/>
          <p:cNvSpPr txBox="1"/>
          <p:nvPr/>
        </p:nvSpPr>
        <p:spPr>
          <a:xfrm>
            <a:off x="233175" y="5695275"/>
            <a:ext cx="1654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載入MRI影像資料夾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af8adc5c16_0_1"/>
          <p:cNvSpPr txBox="1"/>
          <p:nvPr/>
        </p:nvSpPr>
        <p:spPr>
          <a:xfrm>
            <a:off x="1428325" y="6063800"/>
            <a:ext cx="1281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選擇第幾張影像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af8adc5c16_0_1"/>
          <p:cNvSpPr txBox="1"/>
          <p:nvPr/>
        </p:nvSpPr>
        <p:spPr>
          <a:xfrm>
            <a:off x="2906825" y="5695275"/>
            <a:ext cx="1281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載入Mask資料夾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g3af8adc5c16_0_1"/>
          <p:cNvSpPr txBox="1"/>
          <p:nvPr/>
        </p:nvSpPr>
        <p:spPr>
          <a:xfrm>
            <a:off x="5043400" y="5765000"/>
            <a:ext cx="25107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[TODO]</a:t>
            </a:r>
            <a:endParaRPr sz="118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利用T1、T2兩種原始影像，</a:t>
            </a:r>
            <a:endParaRPr sz="118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預測出三種肌肉組織的Mask。</a:t>
            </a:r>
            <a:endParaRPr sz="118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g3af8adc5c16_0_1"/>
          <p:cNvSpPr txBox="1"/>
          <p:nvPr/>
        </p:nvSpPr>
        <p:spPr>
          <a:xfrm>
            <a:off x="1091274" y="926450"/>
            <a:ext cx="33819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頁籤：切換不同的影像成像方式（T1、T2） 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1" name="Google Shape;161;g3af8adc5c16_0_1"/>
          <p:cNvCxnSpPr>
            <a:stCxn id="151" idx="2"/>
            <a:endCxn id="156" idx="0"/>
          </p:cNvCxnSpPr>
          <p:nvPr/>
        </p:nvCxnSpPr>
        <p:spPr>
          <a:xfrm>
            <a:off x="1059625" y="5382275"/>
            <a:ext cx="900" cy="312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g3af8adc5c16_0_1"/>
          <p:cNvCxnSpPr>
            <a:stCxn id="152" idx="2"/>
            <a:endCxn id="157" idx="0"/>
          </p:cNvCxnSpPr>
          <p:nvPr/>
        </p:nvCxnSpPr>
        <p:spPr>
          <a:xfrm flipH="1">
            <a:off x="2068975" y="5382275"/>
            <a:ext cx="3300" cy="681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g3af8adc5c16_0_1"/>
          <p:cNvCxnSpPr>
            <a:stCxn id="153" idx="2"/>
            <a:endCxn id="158" idx="0"/>
          </p:cNvCxnSpPr>
          <p:nvPr/>
        </p:nvCxnSpPr>
        <p:spPr>
          <a:xfrm>
            <a:off x="3543475" y="5382300"/>
            <a:ext cx="3900" cy="312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g3af8adc5c16_0_1"/>
          <p:cNvCxnSpPr>
            <a:stCxn id="154" idx="2"/>
            <a:endCxn id="159" idx="1"/>
          </p:cNvCxnSpPr>
          <p:nvPr/>
        </p:nvCxnSpPr>
        <p:spPr>
          <a:xfrm rot="-5400000" flipH="1">
            <a:off x="4562250" y="5689050"/>
            <a:ext cx="787800" cy="1743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g3af8adc5c16_0_1"/>
          <p:cNvCxnSpPr>
            <a:stCxn id="155" idx="0"/>
            <a:endCxn id="160" idx="2"/>
          </p:cNvCxnSpPr>
          <p:nvPr/>
        </p:nvCxnSpPr>
        <p:spPr>
          <a:xfrm rot="10800000">
            <a:off x="2782075" y="1247350"/>
            <a:ext cx="0" cy="34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6311e2f5f_2_56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2" name="Google Shape;172;g3a6311e2f5f_2_56"/>
          <p:cNvSpPr txBox="1"/>
          <p:nvPr/>
        </p:nvSpPr>
        <p:spPr>
          <a:xfrm>
            <a:off x="2571" y="209200"/>
            <a:ext cx="91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介面功能說明</a:t>
            </a:r>
            <a:endParaRPr sz="3200"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3" name="Google Shape;173;g3a6311e2f5f_2_56"/>
          <p:cNvGrpSpPr/>
          <p:nvPr/>
        </p:nvGrpSpPr>
        <p:grpSpPr>
          <a:xfrm>
            <a:off x="712312" y="1379700"/>
            <a:ext cx="7721825" cy="4098599"/>
            <a:chOff x="712312" y="1379700"/>
            <a:chExt cx="7721825" cy="4098599"/>
          </a:xfrm>
        </p:grpSpPr>
        <p:pic>
          <p:nvPicPr>
            <p:cNvPr id="174" name="Google Shape;174;g3a6311e2f5f_2_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2312" y="1379700"/>
              <a:ext cx="7721825" cy="4098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g3a6311e2f5f_2_56"/>
            <p:cNvSpPr/>
            <p:nvPr/>
          </p:nvSpPr>
          <p:spPr>
            <a:xfrm>
              <a:off x="2585425" y="1744750"/>
              <a:ext cx="5748600" cy="1953000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6" name="Google Shape;176;g3a6311e2f5f_2_56"/>
          <p:cNvSpPr txBox="1"/>
          <p:nvPr/>
        </p:nvSpPr>
        <p:spPr>
          <a:xfrm>
            <a:off x="3188525" y="3900100"/>
            <a:ext cx="34410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在原始影像上顯示三種肌肉組織的 mask 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以及 Dice coefficient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6311e2f5f_2_5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3" name="Google Shape;183;g3a6311e2f5f_2_5"/>
          <p:cNvSpPr txBox="1"/>
          <p:nvPr/>
        </p:nvSpPr>
        <p:spPr>
          <a:xfrm>
            <a:off x="2571" y="209200"/>
            <a:ext cx="91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使用教學</a:t>
            </a:r>
            <a:endParaRPr sz="3200"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g3a6311e2f5f_2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04" y="3998525"/>
            <a:ext cx="2414324" cy="168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a6311e2f5f_2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8397" y="3998523"/>
            <a:ext cx="2405824" cy="168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a6311e2f5f_2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3188" y="946600"/>
            <a:ext cx="5460063" cy="2899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g3a6311e2f5f_2_5"/>
          <p:cNvCxnSpPr>
            <a:endCxn id="184" idx="1"/>
          </p:cNvCxnSpPr>
          <p:nvPr/>
        </p:nvCxnSpPr>
        <p:spPr>
          <a:xfrm flipH="1">
            <a:off x="329304" y="3623637"/>
            <a:ext cx="1557600" cy="1217100"/>
          </a:xfrm>
          <a:prstGeom prst="bentConnector3">
            <a:avLst>
              <a:gd name="adj1" fmla="val 115288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88" name="Google Shape;188;g3a6311e2f5f_2_5"/>
          <p:cNvCxnSpPr>
            <a:endCxn id="185" idx="1"/>
          </p:cNvCxnSpPr>
          <p:nvPr/>
        </p:nvCxnSpPr>
        <p:spPr>
          <a:xfrm rot="-5400000" flipH="1">
            <a:off x="3166247" y="4018585"/>
            <a:ext cx="1056900" cy="587400"/>
          </a:xfrm>
          <a:prstGeom prst="bentConnector2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89" name="Google Shape;189;g3a6311e2f5f_2_5"/>
          <p:cNvCxnSpPr/>
          <p:nvPr/>
        </p:nvCxnSpPr>
        <p:spPr>
          <a:xfrm rot="10800000" flipH="1">
            <a:off x="1536025" y="2179825"/>
            <a:ext cx="351000" cy="2706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g3a6311e2f5f_2_5"/>
          <p:cNvCxnSpPr/>
          <p:nvPr/>
        </p:nvCxnSpPr>
        <p:spPr>
          <a:xfrm rot="10800000">
            <a:off x="4233075" y="2530750"/>
            <a:ext cx="222600" cy="2325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g3a6311e2f5f_2_5"/>
          <p:cNvCxnSpPr/>
          <p:nvPr/>
        </p:nvCxnSpPr>
        <p:spPr>
          <a:xfrm flipH="1">
            <a:off x="3932275" y="1640350"/>
            <a:ext cx="723900" cy="1713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2" name="Google Shape;192;g3a6311e2f5f_2_5"/>
          <p:cNvSpPr txBox="1"/>
          <p:nvPr/>
        </p:nvSpPr>
        <p:spPr>
          <a:xfrm>
            <a:off x="329300" y="5835350"/>
            <a:ext cx="48162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透過 Load 按鈕載入欲處理的 MRI 影像及對應的 mask 資料夾。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g3a6311e2f5f_2_5"/>
          <p:cNvSpPr txBox="1"/>
          <p:nvPr/>
        </p:nvSpPr>
        <p:spPr>
          <a:xfrm>
            <a:off x="566400" y="2450425"/>
            <a:ext cx="12768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原始 MRI 影像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3a6311e2f5f_2_5"/>
          <p:cNvSpPr txBox="1"/>
          <p:nvPr/>
        </p:nvSpPr>
        <p:spPr>
          <a:xfrm>
            <a:off x="3604375" y="2763250"/>
            <a:ext cx="23586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MRI 影像加入 CT 的 mask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g3a6311e2f5f_2_5"/>
          <p:cNvSpPr txBox="1"/>
          <p:nvPr/>
        </p:nvSpPr>
        <p:spPr>
          <a:xfrm>
            <a:off x="4706300" y="1401650"/>
            <a:ext cx="940500" cy="7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綠色 mask 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為該種類的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 truth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a6311e2f5f_2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201" y="946600"/>
            <a:ext cx="5460052" cy="289809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a6311e2f5f_2_18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03" name="Google Shape;203;g3a6311e2f5f_2_18"/>
          <p:cNvSpPr txBox="1"/>
          <p:nvPr/>
        </p:nvSpPr>
        <p:spPr>
          <a:xfrm>
            <a:off x="2571" y="209200"/>
            <a:ext cx="91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使用教學</a:t>
            </a:r>
            <a:endParaRPr sz="3200"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4" name="Google Shape;204;g3a6311e2f5f_2_18"/>
          <p:cNvCxnSpPr/>
          <p:nvPr/>
        </p:nvCxnSpPr>
        <p:spPr>
          <a:xfrm rot="10800000">
            <a:off x="4002625" y="2570750"/>
            <a:ext cx="200400" cy="2406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5" name="Google Shape;205;g3a6311e2f5f_2_18"/>
          <p:cNvCxnSpPr/>
          <p:nvPr/>
        </p:nvCxnSpPr>
        <p:spPr>
          <a:xfrm flipH="1">
            <a:off x="3942400" y="1281375"/>
            <a:ext cx="360900" cy="4422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g3a6311e2f5f_2_18"/>
          <p:cNvCxnSpPr/>
          <p:nvPr/>
        </p:nvCxnSpPr>
        <p:spPr>
          <a:xfrm rot="10800000">
            <a:off x="4774525" y="3804100"/>
            <a:ext cx="0" cy="651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7" name="Google Shape;207;g3a6311e2f5f_2_18"/>
          <p:cNvSpPr txBox="1"/>
          <p:nvPr/>
        </p:nvSpPr>
        <p:spPr>
          <a:xfrm>
            <a:off x="4082701" y="976679"/>
            <a:ext cx="20574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紅色區塊為預測的結果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g3a6311e2f5f_2_18"/>
          <p:cNvSpPr txBox="1"/>
          <p:nvPr/>
        </p:nvSpPr>
        <p:spPr>
          <a:xfrm>
            <a:off x="3933300" y="2761200"/>
            <a:ext cx="23562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紅色區塊將與綠色 mask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計算兩者間的 Dice coefficient 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g3a6311e2f5f_2_18"/>
          <p:cNvSpPr txBox="1"/>
          <p:nvPr/>
        </p:nvSpPr>
        <p:spPr>
          <a:xfrm>
            <a:off x="3136225" y="4455700"/>
            <a:ext cx="32766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預測所有圖片的三種分割結果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並計算與 ground truth 的 Dice coefficient*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0" name="Google Shape;210;g3a6311e2f5f_2_18"/>
          <p:cNvGrpSpPr/>
          <p:nvPr/>
        </p:nvGrpSpPr>
        <p:grpSpPr>
          <a:xfrm>
            <a:off x="3531300" y="5365325"/>
            <a:ext cx="3880200" cy="1340842"/>
            <a:chOff x="3531300" y="5365325"/>
            <a:chExt cx="3880200" cy="1340842"/>
          </a:xfrm>
        </p:grpSpPr>
        <p:sp>
          <p:nvSpPr>
            <p:cNvPr id="211" name="Google Shape;211;g3a6311e2f5f_2_18"/>
            <p:cNvSpPr txBox="1"/>
            <p:nvPr/>
          </p:nvSpPr>
          <p:spPr>
            <a:xfrm>
              <a:off x="3531300" y="5365325"/>
              <a:ext cx="38802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sz="1150"/>
                <a:t>*Dice coefficient：用於衡量兩個集合之間重疊程度的指標</a:t>
              </a:r>
              <a:endParaRPr sz="1150"/>
            </a:p>
          </p:txBody>
        </p:sp>
        <p:pic>
          <p:nvPicPr>
            <p:cNvPr id="212" name="Google Shape;212;g3a6311e2f5f_2_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36173" y="5750250"/>
              <a:ext cx="1245373" cy="955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g3a6311e2f5f_2_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83150" y="5998562"/>
              <a:ext cx="1537001" cy="459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4" name="Google Shape;214;g3a6311e2f5f_2_18"/>
          <p:cNvPicPr preferRelativeResize="0"/>
          <p:nvPr/>
        </p:nvPicPr>
        <p:blipFill rotWithShape="1">
          <a:blip r:embed="rId3">
            <a:alphaModFix/>
          </a:blip>
          <a:srcRect l="25377" t="13194" r="54050" b="44405"/>
          <a:stretch/>
        </p:blipFill>
        <p:spPr>
          <a:xfrm>
            <a:off x="1036725" y="4059500"/>
            <a:ext cx="2099499" cy="22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f8adc5c16_0_16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21" name="Google Shape;221;g3af8adc5c16_0_16"/>
          <p:cNvSpPr txBox="1"/>
          <p:nvPr/>
        </p:nvSpPr>
        <p:spPr>
          <a:xfrm>
            <a:off x="2571" y="209200"/>
            <a:ext cx="91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使用教學</a:t>
            </a:r>
            <a:endParaRPr sz="3200"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2" name="Google Shape;222;g3af8adc5c16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200" y="944900"/>
            <a:ext cx="5460050" cy="2899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g3af8adc5c16_0_16"/>
          <p:cNvCxnSpPr/>
          <p:nvPr/>
        </p:nvCxnSpPr>
        <p:spPr>
          <a:xfrm rot="10800000">
            <a:off x="2829425" y="3844425"/>
            <a:ext cx="0" cy="651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" name="Google Shape;224;g3af8adc5c16_0_16"/>
          <p:cNvSpPr/>
          <p:nvPr/>
        </p:nvSpPr>
        <p:spPr>
          <a:xfrm>
            <a:off x="2505075" y="3575675"/>
            <a:ext cx="625200" cy="22860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g3af8adc5c16_0_16"/>
          <p:cNvSpPr txBox="1"/>
          <p:nvPr/>
        </p:nvSpPr>
        <p:spPr>
          <a:xfrm>
            <a:off x="1818075" y="4536175"/>
            <a:ext cx="19992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切換不同的 MRI 影像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可以觀察不同切片的差異</a:t>
            </a:r>
            <a:endParaRPr sz="11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2571" y="209200"/>
            <a:ext cx="9141429" cy="584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紙本報告</a:t>
            </a:r>
            <a:endParaRPr sz="3200"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5"/>
          <p:cNvSpPr txBox="1">
            <a:spLocks noGrp="1"/>
          </p:cNvSpPr>
          <p:nvPr>
            <p:ph type="body" idx="1"/>
          </p:nvPr>
        </p:nvSpPr>
        <p:spPr>
          <a:xfrm>
            <a:off x="628650" y="1063450"/>
            <a:ext cx="8377800" cy="4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報告須清楚說明演算法步驟、參數選擇以及整體 segmentation pipeline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使用圖示展示 segmentation 結果（原圖、邊緣偵測、最終分割圖）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f8adc5c16_0_22"/>
          <p:cNvSpPr txBox="1">
            <a:spLocks noGrp="1"/>
          </p:cNvSpPr>
          <p:nvPr>
            <p:ph type="sldNum" idx="12"/>
          </p:nvPr>
        </p:nvSpPr>
        <p:spPr>
          <a:xfrm>
            <a:off x="6897565" y="635635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40" name="Google Shape;240;g3af8adc5c16_0_22"/>
          <p:cNvSpPr txBox="1"/>
          <p:nvPr/>
        </p:nvSpPr>
        <p:spPr>
          <a:xfrm>
            <a:off x="2571" y="209200"/>
            <a:ext cx="91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繳交方式</a:t>
            </a:r>
            <a:endParaRPr sz="3200"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g3af8adc5c16_0_22"/>
          <p:cNvSpPr txBox="1">
            <a:spLocks noGrp="1"/>
          </p:cNvSpPr>
          <p:nvPr>
            <p:ph type="body" idx="1"/>
          </p:nvPr>
        </p:nvSpPr>
        <p:spPr>
          <a:xfrm>
            <a:off x="618475" y="928825"/>
            <a:ext cx="8656500" cy="5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1. DEMO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時間與地點將另行通知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。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時會提供額外測試資料集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。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當天需</a:t>
            </a:r>
            <a:r>
              <a:rPr lang="en-US" sz="1700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一併繳交紙本報告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。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2. Moodle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上傳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上傳</a:t>
            </a:r>
            <a:r>
              <a:rPr lang="en-US" sz="1700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報告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（PDF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格式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）。</a:t>
            </a:r>
            <a:br>
              <a:rPr lang="en-US" sz="1700" dirty="0">
                <a:latin typeface="Calibri"/>
                <a:ea typeface="Calibri"/>
                <a:cs typeface="Calibri"/>
                <a:sym typeface="Calibri"/>
              </a:rPr>
            </a:b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檔案名稱：VS2025_[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學號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]_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Project.pdf，如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VS2025_P76141234_Project.pdf。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3. FileZilla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上傳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上傳</a:t>
            </a:r>
            <a:r>
              <a:rPr lang="en-US" sz="1700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程式碼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，請務必將程式包成</a:t>
            </a:r>
            <a:r>
              <a:rPr lang="en-US" sz="1700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可執行檔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或</a:t>
            </a:r>
            <a:r>
              <a:rPr lang="en-US" sz="1700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提供文字檔說明執行入口與執行環境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。</a:t>
            </a:r>
            <a:br>
              <a:rPr lang="en-US" sz="1700" dirty="0">
                <a:latin typeface="Calibri"/>
                <a:ea typeface="Calibri"/>
                <a:cs typeface="Calibri"/>
                <a:sym typeface="Calibri"/>
              </a:rPr>
            </a:b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檔案名稱：VS2025_[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學號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]_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Project.zip，如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VS2025_P76141234_Project.zip。</a:t>
            </a:r>
            <a:br>
              <a:rPr lang="en-US" sz="1700" dirty="0">
                <a:latin typeface="Calibri"/>
                <a:ea typeface="Calibri"/>
                <a:cs typeface="Calibri"/>
                <a:sym typeface="Calibri"/>
              </a:rPr>
            </a:b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-"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ftp://140.116.247.97 port:102 | id: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imagehw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| password: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imagehw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2065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1700" dirty="0" err="1">
                <a:latin typeface="Calibri"/>
                <a:ea typeface="Calibri"/>
                <a:cs typeface="Calibri"/>
                <a:sym typeface="Calibri"/>
              </a:rPr>
              <a:t>繳交日期：所有檔案繳交日期為</a:t>
            </a:r>
            <a:r>
              <a:rPr lang="en-US" sz="17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2026/1/4(sun) 23:59</a:t>
            </a:r>
            <a:endParaRPr sz="1700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7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KU_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如螢幕大小 (4:3)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NCKU_theme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superservo</dc:creator>
  <cp:lastModifiedBy>一 林</cp:lastModifiedBy>
  <cp:revision>1</cp:revision>
  <dcterms:created xsi:type="dcterms:W3CDTF">2019-01-09T09:38:03Z</dcterms:created>
  <dcterms:modified xsi:type="dcterms:W3CDTF">2025-12-12T07:13:50Z</dcterms:modified>
</cp:coreProperties>
</file>